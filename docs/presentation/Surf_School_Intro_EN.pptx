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985455" y="50292"/>
            <a:ext cx="4206240" cy="6858000"/>
          </a:xfrm>
          <a:prstGeom prst="rect">
            <a:avLst/>
          </a:prstGeom>
          <a:solidFill>
            <a:srgbClr val="0A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808415" y="1874519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46159" y="181965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6159" y="23317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modules, one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08415" y="3081527"/>
            <a:ext cx="45720" cy="7863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46159" y="3026663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2,128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6159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tests passing, 0 failing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08415" y="4288535"/>
            <a:ext cx="45720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46159" y="4233671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6159" y="474573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screens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1874519"/>
            <a:ext cx="822960" cy="64008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14173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spc="200">
                <a:solidFill>
                  <a:srgbClr val="75D5FF"/>
                </a:solidFill>
                <a:latin typeface="Segoe UI"/>
              </a:rPr>
              <a:t>SURF SCHOOL MANAGEMENT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24028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Smart Surf School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15968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C7D9E6"/>
                </a:solidFill>
                <a:latin typeface="Segoe UI"/>
              </a:rPr>
              <a:t>Everything a surf school runs on, in one application: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C7D9E6"/>
                </a:solidFill>
                <a:latin typeface="Segoe UI"/>
              </a:rPr>
              <a:t>lessons, bookings, equipment, surf conditions, safety, finance and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669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7FA0B6"/>
                </a:solidFill>
                <a:latin typeface="Segoe UI"/>
              </a:rPr>
              <a:t>Version 1.0.0  ·  Django 5.2 LTS  ·  Turkish /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How many places does a surf school run 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A typical day: bookings arrive on WhatsApp, student details live in a notebook, nobody is sure who has which board, takings are on paper receipts, and the forecast is in another app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Two lessons, one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Nobody sees the clash until two coaches wait for the same student.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Missing 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Who has the board? When is it due? What about the deposit?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Safety details too 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The instructor learns about the asthma after the lesson, not before.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Invisible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What the month actually earned is a guess.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Knowledge that walks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When someone leaves, what they knew leaves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This system puts all five in one database.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system in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Every figure below was read from the project — none is an estimate.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data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REST resources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6384" y="4005072"/>
            <a:ext cx="2476423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0551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00551" y="4005072"/>
            <a:ext cx="2476423" cy="50292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0007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2,128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0007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tests passing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8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8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4174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4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screens working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8885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28885" y="4005072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8341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341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acceptance steps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Tests via `pytest`: 2,130 collected, 2,128 passing, 2 skipped because they need a live AI provider. Code coverage was NOT measured for this release, so no percentage is quoted. Screens verified with real HTTP requests against a running server.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Six areas, one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Customers, students, instructors, CRM. Surf level, medical notes, certification expiry, commission.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10 lesson types, booking calendar, waitlist, surf camps, the day's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QR-labelled inventory, hourly/daily/weekly rentals, damage and service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Surf &amp;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Live wave, wind and tide, a Surf Score per level, incident reports, lifeguard roster.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Payments, refunds, invoices, expenses, commission, lesson packages and point of sale.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Statistics engine, dashboards, PDF/Excel/CSV reports, backups and an audit trail.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What it looks like: the dashboard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15" y="1645920"/>
            <a:ext cx="6404864" cy="3602736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893415" y="5340096"/>
            <a:ext cx="64048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Today's lessons, revenue, pending balances, equipment warnings and sea conditions —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Every screenshot in this deck was taken from the running application on 2026-08-18, showing synthetic demo data — none of them is a mock-up or a design rendering.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Who can see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15 roles and 203 capabilities come from one table. The menu, the screens, the REST API and the AI assistant all read it — which is why a screen can never offer an action the API would refuse.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6758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Everything, including backup restore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51625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52577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52577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Operations + finance + staff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88404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289356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Head Instructor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289356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Lessons, instructors, safety sign-off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2518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26136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Surf Instructor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26136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Their own lessons and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1962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3629152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Lifeguard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3629152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Safety module, incident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98741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399694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399694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Customers, bookings, taking payment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3552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08776" y="436473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Rental 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439" y="436473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Check-out and check-in, deposits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72300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08776" y="473252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439" y="473252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Payments, refunds, reports, commission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509079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08776" y="510032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Customer / Student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439" y="510032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A0B6"/>
                </a:solidFill>
                <a:latin typeface="Segoe UI"/>
              </a:rPr>
              <a:t>Only their own records — enforced per row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Taking money (finance.view) and reading the takings (finance.revenue) are separate privileges; rental staff hold the first and not the second, so the aggregate query is never run. Asserted in apps/accounts/tests/test_object_scoping.py.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system catches the clash, not the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Rules run live while a booking is typed. Each one is tested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Free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Is the lesson full, how many places are left.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1447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413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The student's own clash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4132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Are they already booked at that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56006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4869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Level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48691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Does the lesson type accept this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056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0325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Instructor 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03250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Weekly hours, time off, another lesson.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6512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57809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Instructor-to-student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57809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 stricter limit applies when a minor is in the group.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196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0432" y="512368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Safety restrictions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512368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Any medical or skill restriction on the student.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When something clashes, the system says exactly what is wrong — and the rule cannot be worked around, because that is when people get hurt.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calendar and the student file</a:t>
            </a:r>
          </a:p>
        </p:txBody>
      </p:sp>
      <p:pic>
        <p:nvPicPr>
          <p:cNvPr id="6" name="Picture 5" descr="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Booking calendar: coloured by lesson type, seats sold on every entry.</a:t>
            </a:r>
          </a:p>
        </p:txBody>
      </p:sp>
      <p:pic>
        <p:nvPicPr>
          <p:cNvPr id="8" name="Picture 7" descr="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Student list: level, water competence and last lesson side by 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Who has the board, and when it is due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QR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Every item has a unique code and a QR label. Scan it at the counter and the line is added.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The right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Volume in litres from weight and level; wetsuit thickness from the water temperature.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Honest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Hourly, daily or weekly — and a hire of a week or more automatically takes the weekly rate when it is cheaper.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Late and damaged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Late fees are capped at three times the hire; reported damage opens a maintenance record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Service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Ding, crack, fin, leash, wetsuit tear — every repair recorded with its cost.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Predicted 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 risk ranking computed from your own service history. Statistics — not an AI guess.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Inventory and the hire counter</a:t>
            </a:r>
          </a:p>
        </p:txBody>
      </p:sp>
      <p:pic>
        <p:nvPicPr>
          <p:cNvPr id="6" name="Picture 5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QR-tagged inventory: status, condition and daily rate on the card.</a:t>
            </a:r>
          </a:p>
        </p:txBody>
      </p:sp>
      <p:pic>
        <p:nvPicPr>
          <p:cNvPr id="8" name="Picture 7" descr="ren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hire counter: one scan to check gear back in, deposits and overdue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SURF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Surf Score: 0–100, and why it is that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Wave, wind, period, tide, water temperature and weather, scored separately for each surf level. The score is COMPUTED — never asked of a language model — and every component is shown.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Wave height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35%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Wind quality (offshore/onshore)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Swell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Tide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Weather and precipitation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Water temperature comfort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Hard safety gate: above the level's wave or wind limit the score is capped at 25 and marked unsafe. With no wave data no score is produced at all — an unknown ocean is not a safe ocean.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THE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Live sea state, computed score</a:t>
            </a:r>
          </a:p>
        </p:txBody>
      </p:sp>
      <p:pic>
        <p:nvPicPr>
          <p:cNvPr id="6" name="Picture 5" descr="surf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 live Open-Meteo reading: wave, wind, tide and water temperature — and the Surf Score computed per level, with its reasoning shown.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SAFETY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17320"/>
            <a:ext cx="68580" cy="3108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0432" y="146304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Segoe UI"/>
              </a:rPr>
              <a:t>The AI is never the final authority on a safety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24612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The system summarises conditions, thresholds and history. Whether a lesson runs, whether a student enters the water, and whether a piece of equipment is fit for use is decided by a qualified member of staff.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The data model works the same way: a weather warning suggested by the AI is not an active warning until a named person acknowledges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Exact to the cent, with the history intact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Decimal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Money is never a floating-point number anywhere. 12 digits, 2 decimals — sums and comparisons are exact.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Refunds keep the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 refund creates a matching negative entry; the original payment is never altered.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Atomic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 booking and its lesson attendance are created together or not at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Lesson packages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Sell a discounted multi-lesson package; it draws down as it is used and the balance shows on the customer's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Point of sale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Barcode entry, a stock ledger, printed receipts. Voiding a sale returns the stock rather than deleting the record.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Every payment, refund and permission change is stored immutably with who, what and when.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finance board and analytics</a:t>
            </a:r>
          </a:p>
        </p:txBody>
      </p:sp>
      <p:pic>
        <p:nvPicPr>
          <p:cNvPr id="6" name="Picture 5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Net revenue, expenses, receivables and overdue invoices — last 30 days.</a:t>
            </a:r>
          </a:p>
        </p:txBody>
      </p:sp>
      <p:pic>
        <p:nvPicPr>
          <p:cNvPr id="8" name="Picture 7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Occupancy, cancellation rate, repeat customers and the revenue trend.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Measured AI, not claimed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Model choices came from real calls made on this machine, not from vendor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857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Nemotron 3 Super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(assistant)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535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Nemotron 3.5 Lightning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(fast routing)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389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Riva Translate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(TR ↔ 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311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Embedding 1B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(2048 dimensions)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 finding that changed the design: without `thinking: false` the Nemotron models exceeded 90 seconds and leaked chain-of-thought into the answer. With the flag: 535 ms and a clean reply. See docs/research/VERIFIED_API_PROBES.md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Local first, cloud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Providers sit behind one interface. Call sites ask for a ROLE, never a model name. A failed provider is a value rather than an exception — so the application stays fully usable with no internet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LM Studio 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Free, offline, data never leaves the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NVIDIA 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Strong reasoning, vision, translation, embeddings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Anthropic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Optional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OpenAI-compatible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Ollama, vLLM and others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Local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For when customer data must not leave the building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Automatic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Cheap questions stay local, hard ones go to the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A local embedding model means knowledge-base search works offline too.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AI TRUSTWORTHINESS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assistant cannot invent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«Do not make things up» is a mechanism here, not a hope. The model can only obtain a figure from a tool that runs a real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13 database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Lessons, bookings, revenue, equipment, maintenance, rentals, instructors, customers, surf conditions,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Permissions checked in the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 tool runs with the capabilities of the person ASKING. The assistant is not a privilege-escalation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«No data» is a real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When a query returns nothing the model says so rather than filling the gap with a plausible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Answers drawn from the knowledge base show the document they came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Visible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Under every answer: which provider, which model, how many milliseconds, and which lookups ran.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assistant at work</a:t>
            </a:r>
          </a:p>
        </p:txBody>
      </p:sp>
      <p:pic>
        <p:nvPicPr>
          <p:cNvPr id="6" name="Picture 5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AI assistant talks to the school's own data: 13 database tools, ready-made questions, and a provider/model/latency line under every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DEVELOPMENT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AI proposes, policy decides, a human approves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No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Commands run as a validated argument vector. Chaining and redirection are not filtered — they are impossible.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Allowlist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git status yes, git push no. manage.py test yes, manage.py flush never.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Workspace jail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UNC paths, drive-relative paths, 8.3 short names, CON/NUL device names and NTFS streams are all closed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Approval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An edited command is re-validated from scratch — approval is not permission to bypass the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Clean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No credential reaches the child process; on timeout the whole process tree is killed.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Full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Every decision is audited, including the refusals.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Backups: a plan, not a hope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Taking a backup is the easy part; the real risk is restoring the wrong one over good data. Restore is deliberately made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1.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SHA-256 checksum and an integrity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2. Type the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operator types the backup code to continue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3. Permission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backups.restore is required separately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4. Safety 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current state is backed up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5. 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With every step written to the 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6. On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Everything is put back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SQLite is captured through the sqlite3 backup API rather than by copying the file — copying a live database produces a corrupt backup.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Backups and the audit log</a:t>
            </a:r>
          </a:p>
        </p:txBody>
      </p:sp>
      <p:pic>
        <p:nvPicPr>
          <p:cNvPr id="6" name="Picture 5" descr="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Verified backups, the retention policy and a one-click new copy.</a:t>
            </a:r>
          </a:p>
        </p:txBody>
      </p:sp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audit log: who, what, when — rows are appended, never edited.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Easy to learn, in two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Turkish and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Menus, notifications, validation messages and Help Center and Training Center content is genuinely bilingual. The interface chrome is English today: 337 templates use {% trans %} but no compiled Turkish catalogue ships yet. Turkish locale formatting -- dates, numbers, currency -- does apply.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Help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16 categories, 22 articles — a reference for every screen, in both languages.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Training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10 interactive courses, 71 steps. Real tasks, from your first student to your first backup.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Setup wizard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First run asks for the school name, currency, language and surf spot — and then creates the real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Role 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An instructor's dashboard leads with their own lessons; a customer sees only their own bookings.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CDA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Dark and 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C7D9E6"/>
                </a:solidFill>
                <a:latin typeface="Segoe UI"/>
              </a:rPr>
              <a:t>Bright at the counter, dark in the office.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INTERFACE —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Bilingual sign-in, role-aware screens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12496B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sign-in screen: TR/EN language switch; after sign-in the menu and dashboards shape themselves to the user's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Plain, durable, portable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C7D9E6"/>
                </a:solidFill>
                <a:latin typeface="Segoe UI"/>
              </a:rPr>
              <a:t>The technology was chosen for this business's real conditions — one computer, weak internet, no IT staff — rather than for fashion.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Python 3.11 + Django 5.2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Supported until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Django REST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75 resources, OpenAPI documentation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HTMX + Alpine +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No separate build, no CDN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SQLite →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One environment variable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Used when present; the app is identical without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Works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Every asset is vendored locally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dependency audit reports no known vulnerabilities, and static security analysis reports no high-severity findings.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Whatever is claimed was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All of the following were run on this machine and the results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2,128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tests passing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0 failing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access-control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assertions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39/39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screens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rendering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end-to-end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FA0B6"/>
                </a:solidFill>
                <a:latin typeface="Segoe UI"/>
              </a:rPr>
              <a:t>acceptance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7FA0B6"/>
                </a:solidFill>
                <a:latin typeface="Segoe UI"/>
              </a:rPr>
              <a:t>The acceptance scenario runs through the real service layer: create an instructor and a student, a lesson, a booking, take payment, complete the lesson, hire equipment and take it back, generate reports, make a backup, ask local and cloud AI, and check the audit log.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Known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C7D9E6"/>
                </a:solidFill>
                <a:latin typeface="Segoe UI"/>
              </a:rPr>
              <a:t>If an introduction only lists strengths, the buyer discovers the weaknesses in production. Here are the known ones: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Development runs on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PostgreSQL is the production target and the switch is one environment variable, but PostgreSQL was not installed on this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No browser automation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Screens are verified over real HTTP; click-through flows were tested by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Open-Meteo's free tier is non-commercial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The data licence is fine, the free hosted service is not; a met.no fallback is built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No load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The target is one school on one machine.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AI providers are tested by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C7D9E6"/>
                </a:solidFill>
                <a:latin typeface="Segoe UI"/>
              </a:rPr>
              <a:t>Automated tests never touch the network — that is a deliberate decision.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17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Smart Surf School Management System —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7FA0B6"/>
                </a:solidFill>
                <a:latin typeface="Segoe U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2E4B"/>
              </a:gs>
              <a:gs pos="100000">
                <a:srgbClr val="041D3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75D5FF"/>
                </a:solidFill>
                <a:latin typeface="Segoe UI"/>
              </a:rPr>
              <a:t>IN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5294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A surf school's day,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in one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13071" cy="3657600"/>
          </a:xfrm>
          <a:prstGeom prst="roundRect">
            <a:avLst>
              <a:gd name="adj" fmla="val 4000"/>
            </a:avLst>
          </a:prstGeom>
          <a:solidFill>
            <a:srgbClr val="0C3854"/>
          </a:solidFill>
          <a:ln w="12700">
            <a:solidFill>
              <a:srgbClr val="12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9984" y="17007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59168" y="1554480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The system catches the clash and the safety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4" y="2359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9168" y="2212848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Money is exact and the history cannot be rewritten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9984" y="30175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59168" y="2871216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The surf score is computed, never asked of an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4" y="36758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59168" y="3529584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The assistant only ever talks about real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43342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59168" y="4187952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C7D9E6"/>
                </a:solidFill>
                <a:latin typeface="Segoe UI"/>
              </a:rPr>
              <a:t>It works with no internet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029200"/>
            <a:ext cx="822960" cy="54864"/>
          </a:xfrm>
          <a:prstGeom prst="rect">
            <a:avLst/>
          </a:prstGeom>
          <a:solidFill>
            <a:srgbClr val="75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5358384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Version 1.0.0  ·  github.com/Azizsekerdil/smart-surf-school-management-system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Windows 10/11 (x64) &amp; macOS (Apple Silicon)  ·  Download: GitHub Releases (v1.0.0)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7FA0B6"/>
                </a:solidFill>
                <a:latin typeface="Segoe UI"/>
              </a:rPr>
              <a:t>The macOS build targets Apple Silicon (arm64) and is not notarized — first launch: right-click → Open.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
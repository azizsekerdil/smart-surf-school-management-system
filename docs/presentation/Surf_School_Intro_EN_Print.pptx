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808415" y="1874519"/>
            <a:ext cx="45720" cy="78638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046159" y="1819655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6159" y="23317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modules, one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808415" y="3081527"/>
            <a:ext cx="45720" cy="78638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046159" y="3026663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2,128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6159" y="353872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tests passing, 0 failing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08415" y="4288535"/>
            <a:ext cx="45720" cy="78638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46159" y="4233671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39/39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6159" y="4745735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screens working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1874519"/>
            <a:ext cx="822960" cy="64008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384" y="14173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spc="200">
                <a:solidFill>
                  <a:srgbClr val="0083CE"/>
                </a:solidFill>
                <a:latin typeface="Segoe UI"/>
              </a:rPr>
              <a:t>SURF SCHOOL MANAGEMENT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240280"/>
            <a:ext cx="85953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200" b="1">
                <a:solidFill>
                  <a:srgbClr val="0F172A"/>
                </a:solidFill>
                <a:latin typeface="Segoe UI"/>
              </a:rPr>
              <a:t>Smart Surf School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200" b="1">
                <a:solidFill>
                  <a:srgbClr val="0F172A"/>
                </a:solidFill>
                <a:latin typeface="Segoe UI"/>
              </a:rPr>
              <a:t>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315968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Everything a surf school runs on, in one application: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lessons, bookings, equipment, surf conditions, safety, finance and AI.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56692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Version 1.0.0  ·  Django 5.2 LTS  ·  Turkish /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How many places does a surf school run 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A typical day: bookings arrive on WhatsApp, student details live in a notebook, nobody is sure who has which board, takings are on paper receipts, and the forecast is in another app entirely.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Two lessons, one slot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Nobody sees the clash until two coaches wait for the same student.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449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7180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Missing equipment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7180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Who has the board? When is it due? What about the deposit?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6210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54787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Safety details too 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54787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The instructor learns about the asthma after the lesson, not before.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970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12394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Invisible money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12394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What the month actually earned is a guess.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70001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Knowledge that walks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70001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When someone leaves, what they knew leaves too.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This system puts all five in one database.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The system in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913227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Every figure below was read from the project — none is an estimate.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86384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551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00551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20007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data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4718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4174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REST resources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885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28885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8341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341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roles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86384" y="4005072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5840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203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capabilities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00551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500551" y="4005072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20007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2,128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0007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tests passing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4718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214718" y="4005072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34174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39/39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4174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screens working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28885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928885" y="4005072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48341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8341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acceptance steps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Tests via `pytest`: 2,130 collected, 2,128 passing, 2 skipped because they need a live AI provider. Code coverage was NOT measured for this release, so no percentage is quoted. Screens verified with real HTTP requests against a running server.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Six areas, one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Customers, students, instructors, CRM. Surf level, medical notes, certification expiry, commission.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10 lesson types, booking calendar, waitlist, surf camps, the day's schedule.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Equipment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QR-labelled inventory, hourly/daily/weekly rentals, damage and service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Surf &amp;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Live wave, wind and tide, a Surf Score per level, incident reports, lifeguard roster.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Money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Payments, refunds, invoices, expenses, commission, lesson packages and point of sale.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Decision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Statistics engine, dashboards, PDF/Excel/CSV reports, backups and an audit trail.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THE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What it looks like: the dashboard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415" y="1645920"/>
            <a:ext cx="6404864" cy="3602736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893415" y="5340096"/>
            <a:ext cx="640486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Today's lessons, revenue, pending balances, equipment warnings and sea conditions — at a glance.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Every screenshot in this deck was taken from the running application on 2026-08-18, showing synthetic demo data — none of them is a mock-up or a design rendering.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Who can see what?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15 roles and 203 capabilities come from one table. The menu, the screens, the REST API and the AI assistant all read it — which is why a screen can never offer an action the API would refuse.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6758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Super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Everything, including backup restore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516251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525776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525776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Operations + finance + staff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2884043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2893568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Head Instructor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2893568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Lessons, instructors, safety sign-off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251835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261360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Surf Instructor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261360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Their own lessons and students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19627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3629152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Lifeguard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3629152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Safety module, incident reporting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3987419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3996944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Reception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3996944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Customers, bookings, taking payment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4355211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08776" y="4364736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Rental Staff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0439" y="4364736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Check-out and check-in, deposits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4723003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08776" y="4732528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0439" y="4732528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Payments, refunds, reports, commission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5090795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08776" y="5100320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Customer / Student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0439" y="5100320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Only their own records — enforced per row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Taking money (finance.view) and reading the takings (finance.revenue) are separate privileges; rental staff hold the first and not the second, so the aggregate query is never run. Asserted in apps/accounts/tests/test_object_scoping.py.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BOOKINGS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The system catches the clash, not the person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Rules run live while a booking is typed. Each one is tested separately.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Free seats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Is the lesson full, how many places are left.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1447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4132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The student's own clash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4132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Are they already booked at that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56006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48691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Level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48691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Does the lesson type accept this level.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0565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03250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Instructor availability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03250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Weekly hours, time off, another lesson.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6512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57809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Instructor-to-student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57809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 stricter limit applies when a minor is in the group.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51968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70432" y="512368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Safety restrictions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2504" y="512368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Any medical or skill restriction on the student.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When something clashes, the system says exactly what is wrong — and the rule cannot be worked around, because that is when people get hurt.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INTERFACE — BOOKINGS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The calendar and the student file</a:t>
            </a:r>
          </a:p>
        </p:txBody>
      </p:sp>
      <p:pic>
        <p:nvPicPr>
          <p:cNvPr id="6" name="Picture 5" descr="boo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Booking calendar: coloured by lesson type, seats sold on every entry.</a:t>
            </a:r>
          </a:p>
        </p:txBody>
      </p:sp>
      <p:pic>
        <p:nvPicPr>
          <p:cNvPr id="8" name="Picture 7" descr="stu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Student list: level, water competence and last lesson side by side.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EQUIPMENT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Who has the board, and when it is due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QR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Every item has a unique code and a QR label. Scan it at the counter and the line is added.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The right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Volume in litres from weight and level; wetsuit thickness from the water temperature.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Honest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Hourly, daily or weekly — and a hire of a week or more automatically takes the weekly rate when it is cheaper.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Late and damaged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Late fees are capped at three times the hire; reported damage opens a maintenance record automatically.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Service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Ding, crack, fin, leash, wetsuit tear — every repair recorded with its cost.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Predicted maintenance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 risk ranking computed from your own service history. Statistics — not an AI guess.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INTERFACE — EQUIPMENT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Inventory and the hire counter</a:t>
            </a:r>
          </a:p>
        </p:txBody>
      </p:sp>
      <p:pic>
        <p:nvPicPr>
          <p:cNvPr id="6" name="Picture 5" descr="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QR-tagged inventory: status, condition and daily rate on the card.</a:t>
            </a:r>
          </a:p>
        </p:txBody>
      </p:sp>
      <p:pic>
        <p:nvPicPr>
          <p:cNvPr id="8" name="Picture 7" descr="rent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The hire counter: one scan to check gear back in, deposits and overdue tracking.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SURF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Surf Score: 0–100, and why it is that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Wave, wind, period, tide, water temperature and weather, scored separately for each surf level. The score is COMPUTED — never asked of a language model — and every component is shown.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Wave height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35%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Wind quality (offshore/onshore)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Swell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Tide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10%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Weather and precipitation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Water temperature comfort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Hard safety gate: above the level's wave or wind limit the score is capped at 25 and marked unsafe. With no wave data no score is produced at all — an unknown ocean is not a safe ocean.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INTERFACE — THE SEA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Live sea state, computed score</a:t>
            </a:r>
          </a:p>
        </p:txBody>
      </p:sp>
      <p:pic>
        <p:nvPicPr>
          <p:cNvPr id="6" name="Picture 5" descr="surf_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03" y="1645920"/>
            <a:ext cx="7282688" cy="4096512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454503" y="5833872"/>
            <a:ext cx="728268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A live Open-Meteo reading: wave, wind, tide and water temperature — and the Surf Score computed per level, with its reasoning shown.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SAFETY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417320"/>
            <a:ext cx="68580" cy="3108960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70432" y="1463040"/>
            <a:ext cx="9692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100" b="1">
                <a:solidFill>
                  <a:srgbClr val="0F172A"/>
                </a:solidFill>
                <a:latin typeface="Segoe UI"/>
              </a:rPr>
              <a:t>The AI is never the final authority on a safety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246120"/>
            <a:ext cx="8778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The system summarises conditions, thresholds and history. Whether a lesson runs, whether a student enters the water, and whether a piece of equipment is fit for use is decided by a qualified member of staff.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The data model works the same way: a weather warning suggested by the AI is not an active warning until a named person acknowledges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Exact to the cent, with the history intact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Decimal arithmetic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Money is never a floating-point number anywhere. 12 digits, 2 decimals — sums and comparisons are exact.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Refunds keep the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 refund creates a matching negative entry; the original payment is never altered.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Atomic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 booking and its lesson attendance are created together or not at 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Lesson packages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Sell a discounted multi-lesson package; it draws down as it is used and the balance shows on the customer's page.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Point of sale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Barcode entry, a stock ledger, printed receipts. Voiding a sale returns the stock rather than deleting the record.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Audit trail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Every payment, refund and permission change is stored immutably with who, what and when.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INTERFACE —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The finance board and analytics</a:t>
            </a:r>
          </a:p>
        </p:txBody>
      </p:sp>
      <p:pic>
        <p:nvPicPr>
          <p:cNvPr id="6" name="Picture 5" descr="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Net revenue, expenses, receivables and overdue invoices — last 30 days.</a:t>
            </a:r>
          </a:p>
        </p:txBody>
      </p:sp>
      <p:pic>
        <p:nvPicPr>
          <p:cNvPr id="8" name="Picture 7" descr="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Occupancy, cancellation rate, repeat customers and the revenue trend.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Measured AI, not claimed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913227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Model choices came from real calls made on this machine, not from vendor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86384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857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Nemotron 3 Super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(assistant)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551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00551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20007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535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Nemotron 3.5 Lightning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(fast routing)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4718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4174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389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Riva Translate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(TR ↔ EN)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885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28885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8341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311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341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Embedding 1B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(2048 dimensions)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A finding that changed the design: without `thinking: false` the Nemotron models exceeded 90 seconds and leaked chain-of-thought into the answer. With the flag: 535 ms and a clean reply. See docs/research/VERIFIED_API_PROBES.md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AI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Local first, cloud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Providers sit behind one interface. Call sites ask for a ROLE, never a model name. A failed provider is a value rather than an exception — so the application stays fully usable with no internet at 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LM Studio (local)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Free, offline, data never leaves the machine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NVIDIA NIM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Strong reasoning, vision, translation, embeddings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Anthropic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Optional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OpenAI-compatible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Ollama, vLLM and others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Local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For when customer data must not leave the building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Automatic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Cheap questions stay local, hard ones go to the cloud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A local embedding model means knowledge-base search works offline too.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AI TRUSTWORTHINESS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The assistant cannot invent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«Do not make things up» is a mechanism here, not a hope. The model can only obtain a figure from a tool that runs a real query.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13 database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Lessons, bookings, revenue, equipment, maintenance, rentals, instructors, customers, surf conditions, safety.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449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7180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Permissions checked in the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7180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 tool runs with the capabilities of the person ASKING. The assistant is not a privilege-escalation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6210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54787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«No data» is a real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54787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When a query returns nothing the model says so rather than filling the gap with a plausible number.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970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12394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Citations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12394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Answers drawn from the knowledge base show the document they came from.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70001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Visible 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70001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Under every answer: which provider, which model, how many milliseconds, and which lookups ran.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INTERFACE —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The assistant at work</a:t>
            </a:r>
          </a:p>
        </p:txBody>
      </p:sp>
      <p:pic>
        <p:nvPicPr>
          <p:cNvPr id="6" name="Picture 5" descr="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03" y="1645920"/>
            <a:ext cx="7282688" cy="4096512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454503" y="5833872"/>
            <a:ext cx="728268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The AI assistant talks to the school's own data: 13 database tools, ready-made questions, and a provider/model/latency line under every answer.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DEVELOPMENT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The AI proposes, policy decides, a human approves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No 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Commands run as a validated argument vector. Chaining and redirection are not filtered — they are impossible.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Allowlist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git status yes, git push no. manage.py test yes, manage.py flush never.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Workspace jail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UNC paths, drive-relative paths, 8.3 short names, CON/NUL device names and NTFS streams are all closed 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Approval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An edited command is re-validated from scratch — approval is not permission to bypass the policy.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Clean 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No credential reaches the child process; on timeout the whole process tree is killed.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Full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Every decision is audited, including the refusals.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CONTINUITY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Backups: a plan, not a hope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Taking a backup is the easy part; the real risk is restoring the wrong one over good data. Restore is deliberately made difficult.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1.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SHA-256 checksum and an integrity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2. Type the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The operator types the backup code to continue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3. Permission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backups.restore is required separately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4. Safety backup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The current state is backed up 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5. Restore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With every step written to the audit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6. On 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Everything is put back automatically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SQLite is captured through the sqlite3 backup API rather than by copying the file — copying a live database produces a corrupt backup.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INTERFACE —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Backups and the audit log</a:t>
            </a:r>
          </a:p>
        </p:txBody>
      </p:sp>
      <p:pic>
        <p:nvPicPr>
          <p:cNvPr id="6" name="Picture 5" descr="back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Verified backups, the retention policy and a one-click new copy.</a:t>
            </a:r>
          </a:p>
        </p:txBody>
      </p:sp>
      <p:pic>
        <p:nvPicPr>
          <p:cNvPr id="8" name="Picture 7" descr="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The audit log: who, what, when — rows are appended, never edited.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IN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Easy to learn, in two languages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Turkish and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Menus, notifications, validation messages and Help Center and Training Center content is genuinely bilingual. The interface chrome is English today: 337 templates use {% trans %} but no compiled Turkish catalogue ships yet. Turkish locale formatting -- dates, numbers, currency -- does apply.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Help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16 categories, 22 articles — a reference for every screen, in both languages.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Training 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10 interactive courses, 71 steps. Real tasks, from your first student to your first backup.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Setup wizard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First run asks for the school name, currency, language and surf spot — and then creates the real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Role 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An instructor's dashboard leads with their own lessons; a customer sees only their own bookings.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Dark and light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Bright at the counter, dark in the office.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INTERFACE — SIGN-IN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Bilingual sign-in, role-aware screens</a:t>
            </a:r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03" y="1645920"/>
            <a:ext cx="7282688" cy="4096512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454503" y="5833872"/>
            <a:ext cx="728268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The sign-in screen: TR/EN language switch; after sign-in the menu and dashboards shape themselves to the user's role.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Plain, durable, portable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The technology was chosen for this business's real conditions — one computer, weak internet, no IT staff — rather than for fashion.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Python 3.11 + Django 5.2 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Supported until 2028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Django REST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75 resources, OpenAPI documentation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HTMX + Alpine + Tailwind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No separate build, no CDN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SQLite →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One environment variable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Redis / Celery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Used when present; the app is identical without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Works offline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Every asset is vendored locally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The dependency audit reports no known vulnerabilities, and static security analysis reports no high-severity findings.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Whatever is claimed was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913227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All of the following were run on this machine and the results recorded.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86384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2,128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tests passing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0 failing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551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00551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20007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access-control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assertions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4718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4174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39/39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screens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rendering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885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28885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8341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341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end-to-end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acceptance steps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The acceptance scenario runs through the real service layer: create an instructor and a student, a lesson, a booking, take payment, complete the lesson, hire equipment and take it back, generate reports, make a backup, ask local and cloud AI, and check the audit log.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HONESTY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Known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If an introduction only lists strengths, the buyer discovers the weaknesses in production. Here are the known ones: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Development runs on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PostgreSQL is the production target and the switch is one environment variable, but PostgreSQL was not installed on this 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449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7180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No browser automation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7180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Screens are verified over real HTTP; click-through flows were tested by hand.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6210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54787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Open-Meteo's free tier is non-commercial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54787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The data licence is fine, the free hosted service is not; a met.no fallback is built 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970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12394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No load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12394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The target is one school on one machine.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70001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AI providers are tested by hand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70001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Automated tests never touch the network — that is a deliberate decision.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IN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371600"/>
            <a:ext cx="529437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A surf school's day,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in one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4913071" cy="3657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729984" y="17007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59168" y="1554480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The system catches the clash and the safety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9984" y="23591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59168" y="2212848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Money is exact and the history cannot be rewritten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9984" y="30175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59168" y="2871216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The surf score is computed, never asked of an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9984" y="36758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59168" y="3529584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The assistant only ever talks about real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9984" y="43342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59168" y="4187952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It works with no internet at 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5029200"/>
            <a:ext cx="822960" cy="5486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5358384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Version 1.0.0  ·  github.com/Azizsekerdil/smart-surf-school-management-system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Windows 10/11 (x64) &amp; macOS (Apple Silicon)  ·  Download: GitHub Releases (v1.0.0)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The macOS build targets Apple Silicon (arm64) and is not notarized — first launch: right-click → Open.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
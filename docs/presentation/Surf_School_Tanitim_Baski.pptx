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808415" y="1874519"/>
            <a:ext cx="45720" cy="78638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46159" y="1819655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6159" y="23317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modül, tek veri tabanı</a:t>
            </a:r>
          </a:p>
        </p:txBody>
      </p:sp>
      <p:sp>
        <p:nvSpPr>
          <p:cNvPr id="7" name="Rectangle 6"/>
          <p:cNvSpPr/>
          <p:nvPr/>
        </p:nvSpPr>
        <p:spPr>
          <a:xfrm>
            <a:off x="8808415" y="3081527"/>
            <a:ext cx="45720" cy="78638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046159" y="3026663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2.128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6159" y="353872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geçen test, 0 başarısız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08415" y="4288535"/>
            <a:ext cx="45720" cy="78638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46159" y="4233671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39/39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6159" y="474573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ekran çalışır durumda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1874519"/>
            <a:ext cx="822960" cy="64008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141732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spc="200">
                <a:solidFill>
                  <a:srgbClr val="0083CE"/>
                </a:solidFill>
                <a:latin typeface="Segoe UI"/>
              </a:rPr>
              <a:t>SÖRF OKULU YÖNETİM YAZILIMI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240280"/>
            <a:ext cx="85953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200" b="1">
                <a:solidFill>
                  <a:srgbClr val="0F172A"/>
                </a:solidFill>
                <a:latin typeface="Segoe UI"/>
              </a:rPr>
              <a:t>Akıllı Sörf Okulu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200" b="1">
                <a:solidFill>
                  <a:srgbClr val="0F172A"/>
                </a:solidFill>
                <a:latin typeface="Segoe UI"/>
              </a:rPr>
              <a:t>Yönetim Sistemi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315968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Bir sörf okulunun bütün günlük işleri tek uygulamada: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Segoe UI"/>
              </a:rPr>
              <a:t>dersler, rezervasyon, ekipman, deniz koşulları, güvenlik, finans ve yapay zekâ.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56692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Sürüm 1.0.0  ·  Django 5.2 LTS  ·  Türkçe /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Bir sörf okulu kaç ayrı yerde çalışır?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Tipik bir okulda gün şöyle geçer: rezervasyonlar WhatsApp'ta, öğrenci bilgileri deftere yazılı, ekipman kimde belli değil, tahsilat fişte, deniz durumu başka bir uygulamada.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Aynı saate iki 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Çakışmayı kimse görmez; iki eğitmen aynı öğrenciyi bekler.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Kayıp ekipman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Board kimde? Ne zaman dönecek? Depozito ne oldu?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Eksik güvenlik bilgisi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Öğrencinin astımı olduğu eğitmene dersten sonra söylenir.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Görünmeyen para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Ay sonunda ne kazanıldığı ancak tahmin edilir.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Dağılan kurum hafızası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Bir çalışan ayrılınca bilgi de gider.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Bu yazılım bu beş problemi tek veri tabanında birleştirir.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ÖLÇÜLEN DURUM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Rakamlarla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Aşağıdaki değerler projeden okundu — hiçbiri tahmin değil.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modül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veri modeli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REST kaynağı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496312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154680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86384" y="4005072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05840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203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yetki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00551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500551" y="4005072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20007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2.128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0007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geçen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4718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214718" y="4005072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34174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39/39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4174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ekran çalışıyor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28885" y="4005072"/>
            <a:ext cx="2476423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928885" y="4005072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48341" y="4398264"/>
            <a:ext cx="20375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0F172A"/>
                </a:solidFill>
                <a:latin typeface="Segoe UI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8341" y="5056632"/>
            <a:ext cx="20375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kabul adımı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Testler `pytest` ile çalıştırıldı: 2.130 test toplandı, 2.128 geçti, 2 tanesi canlı bir YZ sağlayıcısı gerektirdiği için atlandı. Kod kapsamı bu sürüm için ÖLÇÜLMEDİ, bu yüzden burada bir yüzde verilmiyor. Ekranlar çalışan sunucuya gerçek HTTP isteğiyle doğrulandı.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KAPSAM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Tek uygulamada altı alan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İnsanlar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Müşteriler, öğrenciler, eğitmenler, CRM. Sörf seviyesi, sağlık notu, sertifika geçerliliği, komisyon.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Operasyon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10 ders tipi, rezervasyon takvimi, bekleme listesi, sörf kampları, günlük program.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Ekipman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QR etiketli envanter, saatlik/günlük/haftalık kiralama, hasar ve bakım geçmişi.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Deniz ve güvenlik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Canlı dalga/rüzgâr/gelgit, seviyeye göre Surf Score, olay kaydı, cankurtaran çizelgesi.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Para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Ödeme, iade, fatura, gider, komisyon, ders paketi ve satış noktası (POS).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Karar desteği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İstatistik motoru, panolar, PDF/Excel/CSV rapor, yedekleme ve denetim kaydı.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ARAYÜZ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Ekranda nasıl görünür: ana pano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415" y="1645920"/>
            <a:ext cx="6404864" cy="3602736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893415" y="5340096"/>
            <a:ext cx="640486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Günün dersleri, ciro, bekleyen tahsilat, ekipman uyarıları ve deniz durumu — tek bakışta.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Bu sunumdaki bütün ekran görüntüleri 18.08.2026'da çalışan uygulamadan, sentetik demo verisiyle alındı — hiçbiri taslak ya da tasarım görseli değildir.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YETKİ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Kim neyi görebilir?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15 rol ve 203 yetki tek bir tablodan yönetilir. Menü, ekranlar, REST API ve yapay zekâ asistanı aynı tabloyu okur — bu yüzden bir ekran hiçbir zaman API'nin reddedeceği bir işlemi teklif edemez.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6758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Süper Yönetici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Her şey, yedek geri yükleme dâhil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51625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525776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Yönetici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525776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Operasyon + finans + personel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288404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2893568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Baş eğitmen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2893568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Dersler, eğitmenler, güvenlik onayı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25183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261360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Eğitmen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261360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Kendi dersleri ve öğrencileri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19627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3629152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Cankurtaran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3629152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Güvenlik modülü, olay bildirimi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987419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3996944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Resepsiyon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3996944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Müşteri, rezervasyon, tahsilat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435521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08776" y="4364736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Kiralama personeli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439" y="4364736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Ekipman çıkış/iade, depozito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472300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08776" y="4732528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Finans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439" y="4732528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Ödeme, iade, rapor, komisyon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509079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08776" y="5100320"/>
            <a:ext cx="2645359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Müşteri / Öğrenci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0439" y="5100320"/>
            <a:ext cx="2148840" cy="367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Yalnızca kendi kayıtları — satır düzeyinde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Tahsilat (finance.view) ile ciroyu okumak (finance.revenue) ayrı yetkilerdir; kiralama personelinde ikincisi yoktur, sorgu hiç çalıştırılmaz. apps/accounts/tests/test_object_scoping.py bunu test eder.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REZERVASYON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Çakışmayı sistem yakalar, insan değil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Rezervasyon yazılırken kurallar canlı çalışır. Her biri ayrı ayrı test edilmiştir.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Boş kontenjan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Ders dolu mu, kaç kişilik yer kaldı.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1447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4132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Öğrencinin kendi çakışması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4132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Aynı saatte başka bir dersi var mı.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56006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48691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Seviye uyumu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48691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Ders tipi bu seviyeyi kabul ediyor mu.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0565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03250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Eğitmen müsaitliği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03250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Haftalık çalışma saati, izin, başka ders.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6512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57809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Eğitmen–öğrenci oranı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57809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18 yaş altı grupta daha katı sınır uygulanır.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5196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70432" y="512368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Güvenlik kısıtı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2504" y="512368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Öğrenciye tanımlı sağlık/beceri kısıtı var mı.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Çakışma bulunursa neyin yanlış olduğu açıkça yazılır — kural aşılamaz, çünkü aşıldığında birileri yaralanır.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ARAYÜZ — REZERVASYON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Takvim ve öğrenci kartoteği</a:t>
            </a:r>
          </a:p>
        </p:txBody>
      </p:sp>
      <p:pic>
        <p:nvPicPr>
          <p:cNvPr id="6" name="Picture 5" descr="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Rezervasyon takvimi: ders türüne göre renkli, satılan koltuk sayısı üstünde.</a:t>
            </a:r>
          </a:p>
        </p:txBody>
      </p:sp>
      <p:pic>
        <p:nvPicPr>
          <p:cNvPr id="8" name="Picture 7" descr="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Öğrenci listesi: seviye, yüzme yeterliliği ve son ders bir arada.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EKİPMAN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Board kimde, ne zaman dönecek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QR etiket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Her ekipmanın benzersiz kodu ve QR'ı var. Tezgâhta okutulur, satır otomatik eklenir.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Doğru board önerisi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Kilo ve seviyeye göre litre hacmi; su sıcaklığına göre wetsuit kalınlığı önerilir.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Şeffaf fiyat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Saatlik/günlük/haftalık. Bir haftadan uzun kiralamada haftalık tarife daha ucuzsa otomatik uygulanır.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Gecikme ve hasar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Gecikme ücreti kira bedelinin 3 katıyla sınırlıdır; hasar bildirilirse bakım kaydı otomatik açılır.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Bakım geçmişi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Ding, çatlak, fin, leash, wetsuit yırtığı — her müdahale maliyetiyle birlikte kayıtlı.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Öngörülen bakım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Servis geçmişinden hesaplanan risk sıralaması. İstatistik — yapay zekâ tahmini değil.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ARAYÜZ — EKİPMAN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Envanter ve kiralama tezgâhı</a:t>
            </a:r>
          </a:p>
        </p:txBody>
      </p:sp>
      <p:pic>
        <p:nvPicPr>
          <p:cNvPr id="6" name="Picture 5" descr="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QR kodlu envanter: durum, kondisyon ve günlük tarife kartın üstünde.</a:t>
            </a:r>
          </a:p>
        </p:txBody>
      </p:sp>
      <p:pic>
        <p:nvPicPr>
          <p:cNvPr id="8" name="Picture 7" descr="ren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Kiralama tezgâhı: tek okutmayla iade, depozito ve gecikme takibi.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DENİZ KOŞULLARI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Surf Score: 0–100, ve neden o puan olduğu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Dalga, rüzgâr, periyot, gelgit, su sıcaklığı ve hava; her seviye için ayrı ayrı puanlanır. Puan HESAPLANIR — bir dil modeline sorulmaz — ve her bileşeni ayrı ayrı gösterilir.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Dalga yüksekliği uyumu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%35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Rüzgâr kalitesi (offshore/onshore)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%25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Swell periyodu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%15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Gelgit uyumu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%10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Hava ve yağış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%10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Su sıcaklığı konforu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%5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Sert güvenlik sınırı: seviyenin dalga ya da rüzgâr limiti aşılırsa puan 25'te kapatılır ve «uygun değil» işaretlenir. Dalga verisi yoksa puan hiç üretilmez — bilinmeyen deniz güvenli deniz değildir.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ARAYÜZ — DENİZ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Canlı deniz durumu, hesaplanan puan</a:t>
            </a:r>
          </a:p>
        </p:txBody>
      </p:sp>
      <p:pic>
        <p:nvPicPr>
          <p:cNvPr id="6" name="Picture 5" descr="surf_cond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Open-Meteo'dan canlı okuma: dalga, rüzgâr, gelgit ve su sıcaklığı — her seviye için hesaplanan Surf Score, gerekçesiyle birlikte.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GÜVENLİK İLKESİ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417320"/>
            <a:ext cx="68580" cy="3108960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70432" y="1463040"/>
            <a:ext cx="9692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100" b="1">
                <a:solidFill>
                  <a:srgbClr val="0F172A"/>
                </a:solidFill>
                <a:latin typeface="Segoe UI"/>
              </a:rPr>
              <a:t>Yapay zekâ hiçbir güvenlik kararının son mercii değildir.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246120"/>
            <a:ext cx="8778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Sistem koşulları, eşikleri ve geçmişi özetler. Dersin yapılıp yapılmayacağına, bir öğrencinin suya girip giremeyeceğine ve bir ekipmanın kullanıma uygun olup olmadığına yetkili personel karar verir.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/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Veri modelinde de böyledir: yapay zekânın önerdiği bir hava uyarısı, adı kayıtlı bir personel onaylayana kadar «etkin uyarı» sayılmaz.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Kuruşu kuruşuna, geçmişi bozmadan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Decimal aritmetik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Para hiçbir yerde ondalıklı kayan sayı değildir. 12 hane, 2 ondalık — toplama ve karşılaştırma tam.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İade geçmişi bozmaz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İade, karşıt işaretli yeni bir kayıt oluşturur; orijinal ödeme asla değiştirilmez.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Atomik işlemler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Rezervasyon ile derse katılım kaydı ya birlikte oluşur ya hiç oluşmaz.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Ders paketleri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İndirimli çoklu ders satılır, kullandıkça düşer, kalan hak müşteri kartında görünür.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Satış noktası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Barkodla ürün ekleme, stok defteri, fiş yazdırma. İptal edilen satış stoğu geri yükler, kaydı silmez.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Denetim kaydı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Her ödeme, iade ve yetki değişikliği kim/ne/ne zaman bilgisiyle değiştirilemez şekilde saklanır.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ARAYÜZ — 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Finans panosu ve analitik</a:t>
            </a:r>
          </a:p>
        </p:txBody>
      </p:sp>
      <p:pic>
        <p:nvPicPr>
          <p:cNvPr id="6" name="Picture 5" descr="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Net ciro, gider, alacak ve vadesi geçen faturalar — son 30 gün.</a:t>
            </a:r>
          </a:p>
        </p:txBody>
      </p:sp>
      <p:pic>
        <p:nvPicPr>
          <p:cNvPr id="8" name="Picture 7" descr="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Doluluk, iptal oranı, tekrar gelen müşteri ve ciro eğilimi.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YAPAY ZEKÂ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Ölçülmüş yapay zekâ, iddia edilmiş değil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Model seçimleri belgeden değil, bu makineden yapılan gerçek çağrılardan çıkarıldı.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857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Nemotron 3 Super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(asistan)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535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Nemotron 3.5 Lightning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(hızlı yönlendirme)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389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Riva Translate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(TR ↔ EN)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311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Embedding 1B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(2048 boyut)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Kritik bulgu: Nemotron modelleri `thinking: false` gönderilmeden 90 saniyeyi aşıyor ve düşünce zincirini yanıta sızdırıyordu. Bayrakla 535 ms ve temiz yanıt. Ayrıntı: docs/research/VERIFIED_API_PROBES.md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YAPAY ZEKÂ MİMARİSİ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Yerel önce, bulut isteğe bağlı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Sağlayıcılar tek arayüzün arkasındadır. Çağrı yapan taraf model adı değil ROL ister. Bir sağlayıcı çökerse bu bir hata değil, bir değerdir — uygulama internetsiz de tam çalışır.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LM Studio (yerel)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Ücretsiz, çevrimdışı, veri makineden çıkmaz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NVIDIA NIM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Güçlü akıl yürütme, görsel, çeviri,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Anthropic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İsteğe bağlı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OpenAI uyumlu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Ollama, vLLM ve benzerleri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Yalnızca yerel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Müşteri verisi bilgisayardan çıkmasın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Otomatik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Kolay soru yerelde, zor soru bulutta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Yerel embedding modeli sayesinde bilgi tabanı araması da internetsiz çalışır.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YAPAY ZEKÂ GÜVENİLİRLİĞİ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Asistan veri uydurmaz — uyduramaz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«Veri uydurmasın» bir temenni değil, bir mekanizmadır. Model bir rakamı ancak gerçek bir sorgu çalıştıran araçtan alabilir.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13 veri tabanı aracı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Ders, rezervasyon, ciro, ekipman, bakım, kiralama, eğitmen, müşteri, deniz durumu, güvenlik.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Yetki denetimi araçta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Araç, soruyu SORAN kullanıcının yetkisiyle çalışır. Asistan bir yetki yükseltme yolu değildir.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«Veri yok» ayrı bir cevap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Sonuç boşsa model bunu bildirir; makul görünen bir sayı uydurmaz.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Kaynak gösterimi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Bilgi tabanından gelen yanıtlar alıntıladıkları belgeyle birlikte gösterilir.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Şeffaf çalışma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Her yanıtın altında hangi sağlayıcı, hangi model, kaç ms, hangi sorgular çalıştı yazar.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ARAYÜZ — YAPAY ZEKÂ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Asistan iş başında</a:t>
            </a:r>
          </a:p>
        </p:txBody>
      </p:sp>
      <p:pic>
        <p:nvPicPr>
          <p:cNvPr id="6" name="Picture 5" descr="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AI Asistan okulun kendi verisiyle konuşur: 13 veri tabanı aracı, hazır örnek sorular ve her yanıtın altında sağlayıcı/model/süre dökümü.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GELİŞTİRME TERMİNALİ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Yapay zekâ önerir, kural karar verir, insan onaylar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Kabuk yok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Komutlar doğrulanmış argüman dizisi olarak çalışır. Zincirleme ve yönlendirme filtrelenmez — imkânsızdır.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İzinli komut listesi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git status evet, git push hayır. manage.py test evet, manage.py flush asla.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Çalışma alanı hapsi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UNC, sürücü göreli yol, 8.3 kısa ad, CON/NUL aygıt adları ve NTFS akışları kapalı.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Onay kapısı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Düzenlenen komut sıfırdan yeniden doğrulanır — onay, kuralı atlama yetkisi değildir.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Temiz ortam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Alt sürece hiçbir kimlik bilgisi geçmez; zaman aşımında süreç ağacı komple sonlandırılır.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Tam kayıt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Reddedilen komutlar dâhil her karar denetim kaydına yazılır.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SÜREKLİLİK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Yedekleme: umut değil,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Yedek almak kolay kısımdır; asıl mesele yanlış yedeği doğru verinin üzerine yazmamaktır. Geri yükleme bilerek zahmetli tasarlandı.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1. Doğrula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SHA-256 sağlama toplamı ve bütünlük kontrolü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2. Kodu yaz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Operatör yedek kodunu elle yazmadan devam etmez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3. Yetki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backups.restore yetkisi ayrıca aranır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4. Güvenlik yedeği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Mevcut durumun yedeği ÖNCE alınır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5. Geri yükle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Ve her adım denetim kaydına yazılır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6. Hata olursa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Otomatik olarak eski hâline döndürülür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SQLite, dosya kopyalanarak değil sqlite3 yedek API'siyle alınır — çalışan bir veri tabanını kopyalamak bozuk yedek üretir.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ARAYÜZ — İŞLETİM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Yedekleme ve denetim kaydı</a:t>
            </a:r>
          </a:p>
        </p:txBody>
      </p:sp>
      <p:pic>
        <p:nvPicPr>
          <p:cNvPr id="6" name="Picture 5" descr="back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6384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Doğrulanmış yedekler, saklama politikası ve tek tıkla yeni yedek.</a:t>
            </a:r>
          </a:p>
        </p:txBody>
      </p:sp>
      <p:pic>
        <p:nvPicPr>
          <p:cNvPr id="8" name="Picture 7" descr="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39466"/>
            <a:ext cx="5172303" cy="2909420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233007" y="5240326"/>
            <a:ext cx="517230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Denetim kaydı: kim, neyi, ne zaman — satırlar eklenir, değiştirilemez.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KULLANIM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Öğrenmesi kolay, iki dilli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8638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4241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Türkçe ve İngilizce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Menüler, bildirimler, doğrulama mesajları ve Yardım ve Eğitim Merkezi içeriği iki dillidir. Arayüz metinleri şu an İngilizcedir: 337 şablon {% trans %} kullanır ancak derlenmiş Türkçe katalog henüz paketlenmemiştir. Türkçe biçimlendirme (tarih, sayı, para) uygulanır.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0527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6130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Yardım Merkezi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130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16 kategori, 22 makale — her ekran için başvuru, iki dilde.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1975104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24164" y="1975104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0196" y="2176272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Eğitim Merkezi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578608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10 interaktif kurs, 71 adım. İlk öğrenciden ilk yedeğe kadar gerçek işler adım adım.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638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241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Kurulum sihirbazı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İlk açılışta okul adı, para birimi, dil ve sörf noktası sorulur; sonuçta gerçek kayıtlar oluşturulur.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527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130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Rol farkındalığı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130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Eğitmenin panosu kendi dersleriyle başlar, müşteri yalnızca kendi rezervasyonunu görür.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4164" y="4187952"/>
            <a:ext cx="3381146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24164" y="4187952"/>
            <a:ext cx="50292" cy="197510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80196" y="43891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Koyu / açık tema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4791456"/>
            <a:ext cx="292394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Tezgâhta gündüz, ofiste gece — göz yormadan.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ARAYÜZ — GİRİŞ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İki dilli giriş, rol bazlı ekranlar</a:t>
            </a:r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03" y="1645920"/>
            <a:ext cx="7282688" cy="4096512"/>
          </a:xfrm>
          <a:prstGeom prst="rect">
            <a:avLst/>
          </a:prstGeom>
          <a:ln w="15875">
            <a:solidFill>
              <a:srgbClr val="E2E8F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454503" y="5833872"/>
            <a:ext cx="728268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Giriş ekranı: TR/EN dil seçimi; giriş sonrası menü ve panolar kullanıcının rolüne göre şekillenir.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TEKNOLOJİ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Sade, dayanıklı, taşınabilir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66543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Teknoloji seçimleri moda değil, bu işletmenin gerçek koşulları gözetilerek yapıldı: tek bilgisayar, zayıf internet, teknik personel yok.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52744" y="1975104"/>
            <a:ext cx="5452567" cy="32186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08776" y="215798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Python 3.11 + Django 5.2 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439" y="215798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2028'e kadar destekli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2623947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08776" y="2633472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Django REST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439" y="2633472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75 kaynak, OpenAPI dokümanı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099435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6" y="3108960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HTMX + Alpine + Tailwind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439" y="3108960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Ayrı derleme yok, CDN yok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574923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08776" y="3584448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SQLite →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439" y="3584448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Tek ortam değişkeniyle geçiş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4050411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08776" y="4059936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Redis / Celery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439" y="4059936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Varsa kullanılır, yoksa uygulama aynen çalışır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4525899"/>
            <a:ext cx="49405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4535424"/>
            <a:ext cx="2645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Çevrimdışı çalışır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439" y="4535424"/>
            <a:ext cx="2148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Bütün varlıklar yerelde gömülü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Bağımlılık taramasında bilinen güvenlik açığı yok; statik güvenlik analizinde yüksek önem dereceli bulgu yok.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KALİTE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Ne iddia ediliyorsa ölçüldü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913227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Aşağıdakilerin hepsi bu makinede çalıştırıldı ve sonucu kaydedildi.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86384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2.128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geçen test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0 başarısız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551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500551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20007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erişim denetimi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testi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4718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4718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4174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39/39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ekran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açılıyor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8885" y="2103120"/>
            <a:ext cx="2476423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928885" y="2103120"/>
            <a:ext cx="2476423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8341" y="2624328"/>
            <a:ext cx="2037511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8341" y="3410712"/>
            <a:ext cx="203751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uçtan uca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kabul adımı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5815584"/>
            <a:ext cx="41148" cy="402336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87552" y="5797296"/>
            <a:ext cx="95570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Kabul senaryosu gerçek servis katmanından geçer: eğitmen ve öğrenci oluşturma, ders, rezervasyon, tahsilat, dersi tamamlama, kiralama ve iade, rapor üretimi, yedek alma, yerel ve bulut yapay zekâ, denetim kaydı.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DÜRÜSTLÜK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9264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Bilinen sınırlar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870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Bir tanıtım yalnızca güçlü yanları anlatırsa, zayıf yanları kullanıcı canlı ortamda keşfeder. Bilinenler burada: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70432" y="2395728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Geliştirme SQLite üzerinde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504" y="2395728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Üretim hedefi PostgreSQL; geçiş tek ortam değişkeni ama bu makinede PostgreSQL kurulu değildi.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44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297180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Tarayıcı otomasyon testi yok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971800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Ekranlar gerçek HTTP ile doğrulandı, tıklama senaryoları elle test edildi.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210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70432" y="354787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Open-Meteo ücretsiz katmanı ticari değil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2504" y="3547872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Veri lisansı uygun, ancak ücretsiz servis ticari kullanıma kapalı; met.no yedeği hazır.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19709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412394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Yük testi yapılmadı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4123944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Hedef tek okul, tek makine.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47731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70432" y="470001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Yapay zekâ sağlayıcıları elle test ediliyor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700016"/>
            <a:ext cx="7372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Otomatik testler ağa hiç çıkmaz — bu bilinçli bir karar.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6373368"/>
            <a:ext cx="106189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Akıllı Sörf Okulu Yönetim Sistemi — Tanıtım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6511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spc="160">
                <a:solidFill>
                  <a:srgbClr val="0083CE"/>
                </a:solidFill>
                <a:latin typeface="Segoe UI"/>
              </a:rPr>
              <a:t>ÖZET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371600"/>
            <a:ext cx="529437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Bir sörf okulunun günü,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0F172A"/>
                </a:solidFill>
                <a:latin typeface="Segoe UI"/>
              </a:rPr>
              <a:t>tek uygulamada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913071" cy="3657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729984" y="170078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59168" y="1554480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Çakışmayı ve güvenlik kuralını sistem yakalar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9984" y="23591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59168" y="2212848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Para kuruşu kuruşuna, geçmiş değiştirilemez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9984" y="30175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59168" y="2871216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Deniz puanı hesaplanır, yapay zekâya sorulmaz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9984" y="36758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59168" y="3529584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Yapay zekâ yalnızca gerçek veriyi konuşur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9984" y="433425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59168" y="4187952"/>
            <a:ext cx="4090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İnternet olmadan da tam çalışır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5029200"/>
            <a:ext cx="822960" cy="54864"/>
          </a:xfrm>
          <a:prstGeom prst="rect">
            <a:avLst/>
          </a:prstGeom>
          <a:solidFill>
            <a:srgbClr val="008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5358384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Sürüm 1.0.0  ·  github.com/Azizsekerdil/smart-surf-school-management-system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Windows 10/11 (x64) + macOS (Apple Silicon)  ·  İndirme: github.com/Azizsekerdil/smart-surf-school-management-system/releases (v1.0.0)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macOS paketi Apple Silicon (arm64) içindir ve notarize edilmemiştir — ilk açılışta sağ tık → Aç.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